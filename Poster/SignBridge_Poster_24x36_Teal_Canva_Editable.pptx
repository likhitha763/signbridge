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9456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945600" cy="32918400"/>
          </a:xfrm>
          <a:prstGeom prst="rect">
            <a:avLst/>
          </a:prstGeom>
          <a:solidFill>
            <a:srgbClr val="F2F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945600" cy="2926080"/>
          </a:xfrm>
          <a:prstGeom prst="rect">
            <a:avLst/>
          </a:prstGeom>
          <a:solidFill>
            <a:srgbClr val="042D29"/>
          </a:solidFill>
          <a:ln w="50800">
            <a:solidFill>
              <a:srgbClr val="169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457200"/>
            <a:ext cx="2011680" cy="2011680"/>
          </a:xfrm>
          <a:prstGeom prst="ellipse">
            <a:avLst/>
          </a:prstGeom>
          <a:solidFill>
            <a:srgbClr val="E0F2F1"/>
          </a:solidFill>
          <a:ln w="38100"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0E524B"/>
                </a:solidFill>
              </a:defRPr>
            </a:pPr>
            <a:r>
              <a:t>SB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320040"/>
            <a:ext cx="15087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400" b="1">
                <a:solidFill>
                  <a:srgbClr val="FFFFFF"/>
                </a:solidFill>
              </a:defRPr>
            </a:pPr>
            <a:r>
              <a:t>SignBridge</a:t>
            </a:r>
          </a:p>
          <a:p>
            <a:pPr>
              <a:spcAft>
                <a:spcPts val="800"/>
              </a:spcAft>
              <a:defRPr sz="2200" b="1">
                <a:solidFill>
                  <a:srgbClr val="48C9B0"/>
                </a:solidFill>
              </a:defRPr>
            </a:pPr>
            <a:r>
              <a:t>A Real-Time Bidirectional Sign Language Communication System with a Unique Hand Gesture Dataset</a:t>
            </a:r>
          </a:p>
          <a:p>
            <a:pPr>
              <a:spcAft>
                <a:spcPts val="400"/>
              </a:spcAft>
              <a:defRPr sz="1600">
                <a:solidFill>
                  <a:srgbClr val="E0F2F1"/>
                </a:solidFill>
              </a:defRPr>
            </a:pPr>
            <a:r>
              <a:t>Mini Project — V Semester, B.E. Computer Science &amp; Engineering</a:t>
            </a:r>
          </a:p>
          <a:p>
            <a:pPr>
              <a:spcAft>
                <a:spcPts val="200"/>
              </a:spcAft>
              <a:defRPr sz="1600" b="1">
                <a:solidFill>
                  <a:srgbClr val="FFFFFF"/>
                </a:solidFill>
              </a:defRPr>
            </a:pPr>
            <a:r>
              <a:t>Authors: Likhitha (4SF24CS093) • Samiksha Naik (4SF24CS179) • Pooja A S (4SF24CS133) • Priyanka (4SF24CS153)</a:t>
            </a:r>
          </a:p>
          <a:p>
            <a:pPr>
              <a:defRPr sz="1400">
                <a:solidFill>
                  <a:srgbClr val="E0F2F1"/>
                </a:solidFill>
              </a:defRPr>
            </a:pPr>
            <a:r>
              <a:t>Guide: Mrs. Suketha, Assistant Professor, Department of CSE | Sahyadri College of Engineering &amp; Management, Mangaluru • VTU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105120" y="45720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48C9B0"/>
                </a:solidFill>
              </a:defRPr>
            </a:pPr>
            <a:r>
              <a:t>Different Hands</a:t>
            </a:r>
            <a:br/>
            <a:r>
              <a:t>Same Language</a:t>
            </a:r>
            <a:br/>
            <a:r>
              <a:t>A Brighter Future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8412480" cy="5669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3200400"/>
            <a:ext cx="8412480" cy="594360"/>
          </a:xfrm>
          <a:prstGeom prst="roundRect">
            <a:avLst/>
          </a:prstGeom>
          <a:solidFill>
            <a:srgbClr val="0E524B"/>
          </a:solidFill>
          <a:ln w="19050">
            <a:solidFill>
              <a:srgbClr val="169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1. 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840480"/>
            <a:ext cx="8138159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F2825"/>
                </a:solidFill>
              </a:defRPr>
            </a:pPr>
            <a:r>
              <a:t>• Sign language is a powerful and essential means of communication, breaking down barriers for individuals who are speech &amp; hearing-impaired.</a:t>
            </a:r>
          </a:p>
          <a:p>
            <a:pPr>
              <a:spcAft>
                <a:spcPts val="1200"/>
              </a:spcAft>
              <a:defRPr sz="1600">
                <a:solidFill>
                  <a:srgbClr val="0F2825"/>
                </a:solidFill>
              </a:defRPr>
            </a:pPr>
            <a:r>
              <a:t>• The primary objective is to address the need for robust Indian Sign Language (ISL) recognition in diverse environments, including self-created datasets and benchmark data.</a:t>
            </a:r>
          </a:p>
          <a:p>
            <a:pPr>
              <a:spcAft>
                <a:spcPts val="1200"/>
              </a:spcAft>
              <a:defRPr sz="1600">
                <a:solidFill>
                  <a:srgbClr val="0F2825"/>
                </a:solidFill>
              </a:defRPr>
            </a:pPr>
            <a:r>
              <a:t>• Leverages CNN and LSTM to enhance recognition performance with higher accuracy, robustness and faster training.</a:t>
            </a:r>
          </a:p>
          <a:p>
            <a:pPr>
              <a:spcAft>
                <a:spcPts val="1200"/>
              </a:spcAft>
              <a:defRPr sz="1600">
                <a:solidFill>
                  <a:srgbClr val="0F2825"/>
                </a:solidFill>
              </a:defRPr>
            </a:pPr>
            <a:r>
              <a:t>• Provides an alternative to traditional ML and standalone CNNs by combining spatial and temporal feature learning.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3200400"/>
            <a:ext cx="12252960" cy="5669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235440" y="3200400"/>
            <a:ext cx="12252960" cy="594360"/>
          </a:xfrm>
          <a:prstGeom prst="roundRect">
            <a:avLst/>
          </a:prstGeom>
          <a:solidFill>
            <a:srgbClr val="0E524B"/>
          </a:solidFill>
          <a:ln w="19050">
            <a:solidFill>
              <a:srgbClr val="169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2. HOW SIGNBRIDGE WORKS (WORKFLOW)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3840480"/>
            <a:ext cx="11978640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8443E"/>
                </a:solidFill>
              </a:defRPr>
            </a:pPr>
            <a:r>
              <a:t>Workflow Pipeline (User -&gt; Camera -&gt; Preprocessing -&gt; CNN+LSTM -&gt; Classification -&gt; Output)</a:t>
            </a:r>
          </a:p>
          <a:p>
            <a:br/>
            <a:pPr>
              <a:defRPr sz="1600" b="1">
                <a:solidFill>
                  <a:srgbClr val="0E524B"/>
                </a:solidFill>
              </a:defRPr>
            </a:pPr>
            <a:r>
              <a:t>SAMPLE HAND GESTURES (Emoji Representation)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3931920"/>
            <a:ext cx="1645920" cy="1005840"/>
          </a:xfrm>
          <a:prstGeom prst="roundRect">
            <a:avLst/>
          </a:prstGeom>
          <a:solidFill>
            <a:srgbClr val="E0F2F1"/>
          </a:solidFill>
          <a:ln>
            <a:solidFill>
              <a:srgbClr val="169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E524B"/>
                </a:solidFill>
              </a:defRPr>
            </a:pPr>
            <a:r>
              <a:t>User</a:t>
            </a:r>
          </a:p>
          <a:p>
            <a:pPr algn="ctr">
              <a:defRPr sz="1100">
                <a:solidFill>
                  <a:srgbClr val="2C4A45"/>
                </a:solidFill>
              </a:defRPr>
            </a:pPr>
            <a:r>
              <a:t>(Shows gesture)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384280" y="3931920"/>
            <a:ext cx="1645920" cy="1005840"/>
          </a:xfrm>
          <a:prstGeom prst="roundRect">
            <a:avLst/>
          </a:prstGeom>
          <a:solidFill>
            <a:srgbClr val="E0F2F1"/>
          </a:solidFill>
          <a:ln>
            <a:solidFill>
              <a:srgbClr val="169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E524B"/>
                </a:solidFill>
              </a:defRPr>
            </a:pPr>
            <a:r>
              <a:t>Camera</a:t>
            </a:r>
          </a:p>
          <a:p>
            <a:pPr algn="ctr">
              <a:defRPr sz="1100">
                <a:solidFill>
                  <a:srgbClr val="2C4A45"/>
                </a:solidFill>
              </a:defRPr>
            </a:pPr>
            <a:r>
              <a:t>(Captures stream)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350240" y="3931920"/>
            <a:ext cx="1645920" cy="1005840"/>
          </a:xfrm>
          <a:prstGeom prst="roundRect">
            <a:avLst/>
          </a:prstGeom>
          <a:solidFill>
            <a:srgbClr val="E0F2F1"/>
          </a:solidFill>
          <a:ln>
            <a:solidFill>
              <a:srgbClr val="169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E524B"/>
                </a:solidFill>
              </a:defRPr>
            </a:pPr>
            <a:r>
              <a:t>Preprocessing</a:t>
            </a:r>
          </a:p>
          <a:p>
            <a:pPr algn="ctr">
              <a:defRPr sz="1100">
                <a:solidFill>
                  <a:srgbClr val="2C4A45"/>
                </a:solidFill>
              </a:defRPr>
            </a:pPr>
            <a:r>
              <a:t>(Hand isolation)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316200" y="3931920"/>
            <a:ext cx="1645920" cy="1005840"/>
          </a:xfrm>
          <a:prstGeom prst="roundRect">
            <a:avLst/>
          </a:prstGeom>
          <a:solidFill>
            <a:srgbClr val="E0F2F1"/>
          </a:solidFill>
          <a:ln>
            <a:solidFill>
              <a:srgbClr val="169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E524B"/>
                </a:solidFill>
              </a:defRPr>
            </a:pPr>
            <a:r>
              <a:t>CNN + LSTM</a:t>
            </a:r>
          </a:p>
          <a:p>
            <a:pPr algn="ctr">
              <a:defRPr sz="1100">
                <a:solidFill>
                  <a:srgbClr val="2C4A45"/>
                </a:solidFill>
              </a:defRPr>
            </a:pPr>
            <a:r>
              <a:t>(Feature extraction)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282160" y="3931920"/>
            <a:ext cx="1645920" cy="1005840"/>
          </a:xfrm>
          <a:prstGeom prst="roundRect">
            <a:avLst/>
          </a:prstGeom>
          <a:solidFill>
            <a:srgbClr val="E0F2F1"/>
          </a:solidFill>
          <a:ln>
            <a:solidFill>
              <a:srgbClr val="169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E524B"/>
                </a:solidFill>
              </a:defRPr>
            </a:pPr>
            <a:r>
              <a:t>Classification</a:t>
            </a:r>
          </a:p>
          <a:p>
            <a:pPr algn="ctr">
              <a:defRPr sz="1100">
                <a:solidFill>
                  <a:srgbClr val="2C4A45"/>
                </a:solidFill>
              </a:defRPr>
            </a:pPr>
            <a:r>
              <a:t>(26 classes)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9248120" y="3931920"/>
            <a:ext cx="1645920" cy="1005840"/>
          </a:xfrm>
          <a:prstGeom prst="roundRect">
            <a:avLst/>
          </a:prstGeom>
          <a:solidFill>
            <a:srgbClr val="E0F2F1"/>
          </a:solidFill>
          <a:ln>
            <a:solidFill>
              <a:srgbClr val="169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E524B"/>
                </a:solidFill>
              </a:defRPr>
            </a:pPr>
            <a:r>
              <a:t>Output</a:t>
            </a:r>
          </a:p>
          <a:p>
            <a:pPr algn="ctr">
              <a:defRPr sz="1100">
                <a:solidFill>
                  <a:srgbClr val="2C4A45"/>
                </a:solidFill>
              </a:defRPr>
            </a:pPr>
            <a:r>
              <a:t>(Text/Audio output)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18320" y="5943600"/>
            <a:ext cx="3749039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E524B"/>
                </a:solidFill>
              </a:defRPr>
            </a:pPr>
            <a:r>
              <a:t>Dataset I – Self Created (Simple)</a:t>
            </a:r>
          </a:p>
          <a:p>
            <a:pPr>
              <a:defRPr sz="2000"/>
            </a:pPr>
            <a:r>
              <a:t>🖐️ ✌️ 👈 👍 ✊ 🤟 👌 👆 🤌 🤛 🤜 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350240" y="5943600"/>
            <a:ext cx="3749039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E524B"/>
                </a:solidFill>
              </a:defRPr>
            </a:pPr>
            <a:r>
              <a:t>Dataset II – Studio (Uniform)</a:t>
            </a:r>
          </a:p>
          <a:p>
            <a:pPr>
              <a:defRPr sz="2000"/>
            </a:pPr>
            <a:r>
              <a:t>🤏 🫵 🖐️ 🤙 🤞 🖖 ✋ 👊 👉 👈 ☝️ 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7282160" y="5943600"/>
            <a:ext cx="3749039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800"/>
              </a:spcAft>
              <a:defRPr sz="1400" b="1">
                <a:solidFill>
                  <a:srgbClr val="0E524B"/>
                </a:solidFill>
              </a:defRPr>
            </a:pPr>
            <a:r>
              <a:t>Dataset III – Complex (Non-uniform)</a:t>
            </a:r>
          </a:p>
          <a:p>
            <a:pPr>
              <a:defRPr sz="2000"/>
            </a:pPr>
            <a:r>
              <a:t>🤟 🤝 ✍️ 🙏 👋 👐 🤲 🙌 💪 🤳 💅 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9144000"/>
            <a:ext cx="841248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7200" y="9144000"/>
            <a:ext cx="8412480" cy="594360"/>
          </a:xfrm>
          <a:prstGeom prst="roundRect">
            <a:avLst/>
          </a:prstGeom>
          <a:solidFill>
            <a:srgbClr val="0E524B"/>
          </a:solidFill>
          <a:ln w="19050">
            <a:solidFill>
              <a:srgbClr val="169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3. DATASET OVERVIEW &amp; 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9784080"/>
            <a:ext cx="8138159" cy="434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40080" y="9875520"/>
          <a:ext cx="80467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1120"/>
                <a:gridCol w="1341120"/>
                <a:gridCol w="1341120"/>
                <a:gridCol w="1341120"/>
                <a:gridCol w="1341120"/>
                <a:gridCol w="1341120"/>
              </a:tblGrid>
              <a:tr h="9829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0E52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Background</a:t>
                      </a:r>
                    </a:p>
                  </a:txBody>
                  <a:tcPr>
                    <a:solidFill>
                      <a:srgbClr val="0E52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Environment</a:t>
                      </a:r>
                    </a:p>
                  </a:txBody>
                  <a:tcPr>
                    <a:solidFill>
                      <a:srgbClr val="0E52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E52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Classes</a:t>
                      </a:r>
                    </a:p>
                  </a:txBody>
                  <a:tcPr>
                    <a:solidFill>
                      <a:srgbClr val="0E52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Images</a:t>
                      </a:r>
                    </a:p>
                  </a:txBody>
                  <a:tcPr>
                    <a:solidFill>
                      <a:srgbClr val="0E524B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2825"/>
                          </a:solidFill>
                        </a:defRPr>
                      </a:pPr>
                      <a:r>
                        <a:t>Dataset I</a:t>
                      </a:r>
                    </a:p>
                  </a:txBody>
                  <a:tcPr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2825"/>
                          </a:solidFill>
                        </a:defRPr>
                      </a:pPr>
                      <a:r>
                        <a:t>Simple</a:t>
                      </a:r>
                    </a:p>
                  </a:txBody>
                  <a:tcPr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2825"/>
                          </a:solidFill>
                        </a:defRPr>
                      </a:pPr>
                      <a:r>
                        <a:t>Controlled</a:t>
                      </a:r>
                    </a:p>
                  </a:txBody>
                  <a:tcPr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2825"/>
                          </a:solidFill>
                        </a:defRPr>
                      </a:pPr>
                      <a:r>
                        <a:t>Self-created ISL</a:t>
                      </a:r>
                    </a:p>
                  </a:txBody>
                  <a:tcPr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2825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2825"/>
                          </a:solidFill>
                        </a:defRPr>
                      </a:pPr>
                      <a:r>
                        <a:t>5,200</a:t>
                      </a:r>
                    </a:p>
                  </a:txBody>
                  <a:tcPr>
                    <a:solidFill>
                      <a:srgbClr val="F2F9F8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2825"/>
                          </a:solidFill>
                        </a:defRPr>
                      </a:pPr>
                      <a:r>
                        <a:t>Dataset II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2825"/>
                          </a:solidFill>
                        </a:defRPr>
                      </a:pPr>
                      <a:r>
                        <a:t>Simple studio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2825"/>
                          </a:solidFill>
                        </a:defRPr>
                      </a:pPr>
                      <a:r>
                        <a:t>Uniform lighting &amp; mask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2825"/>
                          </a:solidFill>
                        </a:defRPr>
                      </a:pPr>
                      <a:r>
                        <a:t>Benchmark / 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2825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282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829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2825"/>
                          </a:solidFill>
                        </a:defRPr>
                      </a:pPr>
                      <a:r>
                        <a:t>Dataset III</a:t>
                      </a:r>
                    </a:p>
                  </a:txBody>
                  <a:tcPr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2825"/>
                          </a:solidFill>
                        </a:defRPr>
                      </a:pPr>
                      <a:r>
                        <a:t>Complex</a:t>
                      </a:r>
                    </a:p>
                  </a:txBody>
                  <a:tcPr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2825"/>
                          </a:solidFill>
                        </a:defRPr>
                      </a:pPr>
                      <a:r>
                        <a:t>Low light / non-uniform</a:t>
                      </a:r>
                    </a:p>
                  </a:txBody>
                  <a:tcPr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2825"/>
                          </a:solidFill>
                        </a:defRPr>
                      </a:pPr>
                      <a:r>
                        <a:t>Robustness evaluation</a:t>
                      </a:r>
                    </a:p>
                  </a:txBody>
                  <a:tcPr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2825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0F282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2F9F8"/>
                    </a:solidFill>
                  </a:tcPr>
                </a:tc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9235440" y="9144000"/>
            <a:ext cx="585216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35440" y="9144000"/>
            <a:ext cx="5852160" cy="594360"/>
          </a:xfrm>
          <a:prstGeom prst="roundRect">
            <a:avLst/>
          </a:prstGeom>
          <a:solidFill>
            <a:srgbClr val="0E524B"/>
          </a:solidFill>
          <a:ln w="19050">
            <a:solidFill>
              <a:srgbClr val="169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4. PREPROCESSING (HAND ISOLATION)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9784080"/>
            <a:ext cx="5577840" cy="434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E524B"/>
                </a:solidFill>
              </a:defRPr>
            </a:pPr>
            <a:r>
              <a:t>Step-by-step Hand Isolation &amp; ROI Extraction Pipeline:</a:t>
            </a:r>
          </a:p>
          <a:p>
            <a:pPr>
              <a:spcAft>
                <a:spcPts val="1000"/>
              </a:spcAft>
              <a:defRPr sz="1400">
                <a:solidFill>
                  <a:srgbClr val="0F2825"/>
                </a:solidFill>
              </a:defRPr>
            </a:pPr>
            <a:r>
              <a:t>✔ 1. Original Image (Raw input capture)</a:t>
            </a:r>
          </a:p>
          <a:p>
            <a:pPr>
              <a:spcAft>
                <a:spcPts val="1000"/>
              </a:spcAft>
              <a:defRPr sz="1400">
                <a:solidFill>
                  <a:srgbClr val="0F2825"/>
                </a:solidFill>
              </a:defRPr>
            </a:pPr>
            <a:r>
              <a:t>✔ 2. Background Removal (Masking &amp; thresholding)</a:t>
            </a:r>
          </a:p>
          <a:p>
            <a:pPr>
              <a:spcAft>
                <a:spcPts val="1000"/>
              </a:spcAft>
              <a:defRPr sz="1400">
                <a:solidFill>
                  <a:srgbClr val="0F2825"/>
                </a:solidFill>
              </a:defRPr>
            </a:pPr>
            <a:r>
              <a:t>✔ 3. Hand ROI Cropped (Bounding box extraction)</a:t>
            </a:r>
          </a:p>
          <a:p>
            <a:pPr>
              <a:spcAft>
                <a:spcPts val="1000"/>
              </a:spcAft>
              <a:defRPr sz="1400">
                <a:solidFill>
                  <a:srgbClr val="0F2825"/>
                </a:solidFill>
              </a:defRPr>
            </a:pPr>
            <a:r>
              <a:t>✔ 4. Resized Image (Normalized 224 x 224 px)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453359" y="9144000"/>
            <a:ext cx="6035040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5453359" y="9144000"/>
            <a:ext cx="6035040" cy="594360"/>
          </a:xfrm>
          <a:prstGeom prst="roundRect">
            <a:avLst/>
          </a:prstGeom>
          <a:solidFill>
            <a:srgbClr val="0E524B"/>
          </a:solidFill>
          <a:ln w="19050">
            <a:solidFill>
              <a:srgbClr val="169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5. MODEL ARCHITECTURE (CNN + LSTM)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90519" y="9784080"/>
            <a:ext cx="5760720" cy="434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E524B"/>
                </a:solidFill>
              </a:defRPr>
            </a:pPr>
            <a:r>
              <a:t>CNN + LSTM Deep Learning Pipeline:</a:t>
            </a:r>
          </a:p>
          <a:p>
            <a:pPr>
              <a:spcAft>
                <a:spcPts val="800"/>
              </a:spcAft>
              <a:defRPr sz="1350" b="1">
                <a:solidFill>
                  <a:srgbClr val="08443E"/>
                </a:solidFill>
              </a:defRPr>
            </a:pPr>
            <a:r>
              <a:t>➔ Input: 224 x 224 x 3 RGB Frame</a:t>
            </a:r>
          </a:p>
          <a:p>
            <a:pPr>
              <a:spcAft>
                <a:spcPts val="800"/>
              </a:spcAft>
              <a:defRPr sz="1350" b="1">
                <a:solidFill>
                  <a:srgbClr val="08443E"/>
                </a:solidFill>
              </a:defRPr>
            </a:pPr>
            <a:r>
              <a:t>➔ CNN Layers: Conv2D + MaxPool Spatial Features</a:t>
            </a:r>
          </a:p>
          <a:p>
            <a:pPr>
              <a:spcAft>
                <a:spcPts val="800"/>
              </a:spcAft>
              <a:defRPr sz="1350" b="1">
                <a:solidFill>
                  <a:srgbClr val="08443E"/>
                </a:solidFill>
              </a:defRPr>
            </a:pPr>
            <a:r>
              <a:t>➔ Feature Vector: 512D Vector Embedding</a:t>
            </a:r>
          </a:p>
          <a:p>
            <a:pPr>
              <a:spcAft>
                <a:spcPts val="800"/>
              </a:spcAft>
              <a:defRPr sz="1350" b="1">
                <a:solidFill>
                  <a:srgbClr val="08443E"/>
                </a:solidFill>
              </a:defRPr>
            </a:pPr>
            <a:r>
              <a:t>➔ LSTM Layer: 128 Hidden Units (Temporal Sequence)</a:t>
            </a:r>
          </a:p>
          <a:p>
            <a:pPr>
              <a:spcAft>
                <a:spcPts val="800"/>
              </a:spcAft>
              <a:defRPr sz="1350" b="1">
                <a:solidFill>
                  <a:srgbClr val="08443E"/>
                </a:solidFill>
              </a:defRPr>
            </a:pPr>
            <a:r>
              <a:t>➔ MLP + Softmax: 26 Output Classes (A–Z Classification)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14447520"/>
            <a:ext cx="804672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7200" y="14447520"/>
            <a:ext cx="8046720" cy="594360"/>
          </a:xfrm>
          <a:prstGeom prst="roundRect">
            <a:avLst/>
          </a:prstGeom>
          <a:solidFill>
            <a:srgbClr val="0E524B"/>
          </a:solidFill>
          <a:ln w="19050">
            <a:solidFill>
              <a:srgbClr val="169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6. WHY CNN + LSTM?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15087600"/>
            <a:ext cx="7772400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E524B"/>
                </a:solidFill>
              </a:defRPr>
            </a:pPr>
            <a:r>
              <a:t>CNN – Spatial Feature Extraction:</a:t>
            </a:r>
          </a:p>
          <a:p>
            <a:pPr>
              <a:spcAft>
                <a:spcPts val="400"/>
              </a:spcAft>
              <a:defRPr sz="1350">
                <a:solidFill>
                  <a:srgbClr val="0F2825"/>
                </a:solidFill>
              </a:defRPr>
            </a:pPr>
            <a:r>
              <a:t>• Learns hand shape, edges, visual features</a:t>
            </a:r>
          </a:p>
          <a:p>
            <a:pPr>
              <a:spcAft>
                <a:spcPts val="400"/>
              </a:spcAft>
              <a:defRPr sz="1350">
                <a:solidFill>
                  <a:srgbClr val="0F2825"/>
                </a:solidFill>
              </a:defRPr>
            </a:pPr>
            <a:r>
              <a:t>• Converts image to 512-D feature vector</a:t>
            </a:r>
          </a:p>
          <a:p>
            <a:pPr>
              <a:spcAft>
                <a:spcPts val="400"/>
              </a:spcAft>
              <a:defRPr sz="1350">
                <a:solidFill>
                  <a:srgbClr val="0F2825"/>
                </a:solidFill>
              </a:defRPr>
            </a:pPr>
            <a:r>
              <a:t>• Works well with variations in background &amp; lighting</a:t>
            </a:r>
          </a:p>
          <a:p>
            <a:br/>
            <a:pPr>
              <a:spcAft>
                <a:spcPts val="400"/>
              </a:spcAft>
              <a:defRPr sz="1500" b="1">
                <a:solidFill>
                  <a:srgbClr val="0E524B"/>
                </a:solidFill>
              </a:defRPr>
            </a:pPr>
            <a:r>
              <a:t>LSTM – Temporal Sequence Modeling:</a:t>
            </a:r>
          </a:p>
          <a:p>
            <a:pPr>
              <a:spcAft>
                <a:spcPts val="400"/>
              </a:spcAft>
              <a:defRPr sz="1350">
                <a:solidFill>
                  <a:srgbClr val="0F2825"/>
                </a:solidFill>
              </a:defRPr>
            </a:pPr>
            <a:r>
              <a:t>• Captures frame-to-frame changes</a:t>
            </a:r>
          </a:p>
          <a:p>
            <a:pPr>
              <a:spcAft>
                <a:spcPts val="400"/>
              </a:spcAft>
              <a:defRPr sz="1350">
                <a:solidFill>
                  <a:srgbClr val="0F2825"/>
                </a:solidFill>
              </a:defRPr>
            </a:pPr>
            <a:r>
              <a:t>• Learns gesture sequence &amp; motion flow</a:t>
            </a:r>
          </a:p>
          <a:p>
            <a:pPr>
              <a:spcAft>
                <a:spcPts val="400"/>
              </a:spcAft>
              <a:defRPr sz="1350">
                <a:solidFill>
                  <a:srgbClr val="0F2825"/>
                </a:solidFill>
              </a:defRPr>
            </a:pPr>
            <a:r>
              <a:t>• Handles long-range temporal dependencies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778240" y="14447520"/>
            <a:ext cx="621792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778240" y="14447520"/>
            <a:ext cx="6217920" cy="594360"/>
          </a:xfrm>
          <a:prstGeom prst="roundRect">
            <a:avLst/>
          </a:prstGeom>
          <a:solidFill>
            <a:srgbClr val="0E524B"/>
          </a:solidFill>
          <a:ln w="19050">
            <a:solidFill>
              <a:srgbClr val="169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7. MODEL PARAMETERS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15087600"/>
            <a:ext cx="5943600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8961120" y="15270480"/>
            <a:ext cx="2743200" cy="1188720"/>
          </a:xfrm>
          <a:prstGeom prst="roundRect">
            <a:avLst/>
          </a:prstGeom>
          <a:solidFill>
            <a:srgbClr val="E0F2F1"/>
          </a:solidFill>
          <a:ln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E524B"/>
                </a:solidFill>
              </a:defRPr>
            </a:pPr>
            <a:r>
              <a:t>224 × 224</a:t>
            </a:r>
          </a:p>
          <a:p>
            <a:pPr algn="ctr">
              <a:defRPr sz="1200">
                <a:solidFill>
                  <a:srgbClr val="2C4A45"/>
                </a:solidFill>
              </a:defRPr>
            </a:pPr>
            <a:r>
              <a:t>Input Size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887200" y="15270480"/>
            <a:ext cx="2743200" cy="1188720"/>
          </a:xfrm>
          <a:prstGeom prst="roundRect">
            <a:avLst/>
          </a:prstGeom>
          <a:solidFill>
            <a:srgbClr val="E0F2F1"/>
          </a:solidFill>
          <a:ln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E524B"/>
                </a:solidFill>
              </a:defRPr>
            </a:pPr>
            <a:r>
              <a:t>512 / 768</a:t>
            </a:r>
          </a:p>
          <a:p>
            <a:pPr algn="ctr">
              <a:defRPr sz="1200">
                <a:solidFill>
                  <a:srgbClr val="2C4A45"/>
                </a:solidFill>
              </a:defRPr>
            </a:pPr>
            <a:r>
              <a:t>Embedding Dim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61120" y="16642080"/>
            <a:ext cx="2743200" cy="1188720"/>
          </a:xfrm>
          <a:prstGeom prst="roundRect">
            <a:avLst/>
          </a:prstGeom>
          <a:solidFill>
            <a:srgbClr val="E0F2F1"/>
          </a:solidFill>
          <a:ln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E524B"/>
                </a:solidFill>
              </a:defRPr>
            </a:pPr>
            <a:r>
              <a:t>128</a:t>
            </a:r>
          </a:p>
          <a:p>
            <a:pPr algn="ctr">
              <a:defRPr sz="1200">
                <a:solidFill>
                  <a:srgbClr val="2C4A45"/>
                </a:solidFill>
              </a:defRPr>
            </a:pPr>
            <a:r>
              <a:t>LSTM Units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887200" y="16642080"/>
            <a:ext cx="2743200" cy="1188720"/>
          </a:xfrm>
          <a:prstGeom prst="roundRect">
            <a:avLst/>
          </a:prstGeom>
          <a:solidFill>
            <a:srgbClr val="E0F2F1"/>
          </a:solidFill>
          <a:ln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E524B"/>
                </a:solidFill>
              </a:defRPr>
            </a:pPr>
            <a:r>
              <a:t>0.3</a:t>
            </a:r>
          </a:p>
          <a:p>
            <a:pPr algn="ctr">
              <a:defRPr sz="1200">
                <a:solidFill>
                  <a:srgbClr val="2C4A45"/>
                </a:solidFill>
              </a:defRPr>
            </a:pPr>
            <a:r>
              <a:t>Dropout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18013680"/>
            <a:ext cx="2743200" cy="1188720"/>
          </a:xfrm>
          <a:prstGeom prst="roundRect">
            <a:avLst/>
          </a:prstGeom>
          <a:solidFill>
            <a:srgbClr val="E0F2F1"/>
          </a:solidFill>
          <a:ln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E524B"/>
                </a:solidFill>
              </a:defRPr>
            </a:pPr>
            <a:r>
              <a:t>32</a:t>
            </a:r>
          </a:p>
          <a:p>
            <a:pPr algn="ctr">
              <a:defRPr sz="1200">
                <a:solidFill>
                  <a:srgbClr val="2C4A45"/>
                </a:solidFill>
              </a:defRPr>
            </a:pPr>
            <a:r>
              <a:t>Batch Size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887200" y="18013680"/>
            <a:ext cx="2743200" cy="1188720"/>
          </a:xfrm>
          <a:prstGeom prst="roundRect">
            <a:avLst/>
          </a:prstGeom>
          <a:solidFill>
            <a:srgbClr val="E0F2F1"/>
          </a:solidFill>
          <a:ln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E524B"/>
                </a:solidFill>
              </a:defRPr>
            </a:pPr>
            <a:r>
              <a:t>10 / 20 / 50</a:t>
            </a:r>
          </a:p>
          <a:p>
            <a:pPr algn="ctr">
              <a:defRPr sz="1200">
                <a:solidFill>
                  <a:srgbClr val="2C4A45"/>
                </a:solidFill>
              </a:defRPr>
            </a:pPr>
            <a:r>
              <a:t>Epochs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5270480" y="14447520"/>
            <a:ext cx="6217920" cy="5303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5270480" y="14447520"/>
            <a:ext cx="6217920" cy="594360"/>
          </a:xfrm>
          <a:prstGeom prst="roundRect">
            <a:avLst/>
          </a:prstGeom>
          <a:solidFill>
            <a:srgbClr val="0E524B"/>
          </a:solidFill>
          <a:ln w="19050">
            <a:solidFill>
              <a:srgbClr val="169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8. KEY CONTRIBUTIONS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407639" y="15087600"/>
            <a:ext cx="5943600" cy="4617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7" name="Oval 46"/>
          <p:cNvSpPr/>
          <p:nvPr/>
        </p:nvSpPr>
        <p:spPr>
          <a:xfrm>
            <a:off x="15544800" y="15270480"/>
            <a:ext cx="731520" cy="731520"/>
          </a:xfrm>
          <a:prstGeom prst="ellipse">
            <a:avLst/>
          </a:prstGeom>
          <a:solidFill>
            <a:srgbClr val="0E5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459200" y="15179039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825"/>
                </a:solidFill>
              </a:defRPr>
            </a:pPr>
            <a:r>
              <a:t>Self-created ISL gesture dataset</a:t>
            </a:r>
            <a:br/>
            <a:r>
              <a:t>(26 classes, 5,200 images)</a:t>
            </a:r>
          </a:p>
        </p:txBody>
      </p:sp>
      <p:sp>
        <p:nvSpPr>
          <p:cNvPr id="49" name="Oval 48"/>
          <p:cNvSpPr/>
          <p:nvPr/>
        </p:nvSpPr>
        <p:spPr>
          <a:xfrm>
            <a:off x="15544800" y="16322039"/>
            <a:ext cx="731520" cy="731520"/>
          </a:xfrm>
          <a:prstGeom prst="ellipse">
            <a:avLst/>
          </a:prstGeom>
          <a:solidFill>
            <a:srgbClr val="0E5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459200" y="16230599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825"/>
                </a:solidFill>
              </a:defRPr>
            </a:pPr>
            <a:r>
              <a:t>Evaluation across simple and</a:t>
            </a:r>
            <a:br/>
            <a:r>
              <a:t>non-uniform environments</a:t>
            </a:r>
          </a:p>
        </p:txBody>
      </p:sp>
      <p:sp>
        <p:nvSpPr>
          <p:cNvPr id="51" name="Oval 50"/>
          <p:cNvSpPr/>
          <p:nvPr/>
        </p:nvSpPr>
        <p:spPr>
          <a:xfrm>
            <a:off x="15544800" y="17373600"/>
            <a:ext cx="731520" cy="731520"/>
          </a:xfrm>
          <a:prstGeom prst="ellipse">
            <a:avLst/>
          </a:prstGeom>
          <a:solidFill>
            <a:srgbClr val="0E5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6459200" y="1728216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825"/>
                </a:solidFill>
              </a:defRPr>
            </a:pPr>
            <a:r>
              <a:t>CNN + LSTM spatial-temporal</a:t>
            </a:r>
            <a:br/>
            <a:r>
              <a:t>modelling architecture</a:t>
            </a:r>
          </a:p>
        </p:txBody>
      </p:sp>
      <p:sp>
        <p:nvSpPr>
          <p:cNvPr id="53" name="Oval 52"/>
          <p:cNvSpPr/>
          <p:nvPr/>
        </p:nvSpPr>
        <p:spPr>
          <a:xfrm>
            <a:off x="15544800" y="18425160"/>
            <a:ext cx="731520" cy="731520"/>
          </a:xfrm>
          <a:prstGeom prst="ellipse">
            <a:avLst/>
          </a:prstGeom>
          <a:solidFill>
            <a:srgbClr val="0E5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459200" y="18333719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825"/>
                </a:solidFill>
              </a:defRPr>
            </a:pPr>
            <a:r>
              <a:t>High accuracy up to 100%</a:t>
            </a:r>
            <a:br/>
            <a:r>
              <a:t>(Dataset II studio benchmark)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57200" y="20116800"/>
            <a:ext cx="14173200" cy="5669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57200" y="20116800"/>
            <a:ext cx="14173200" cy="594360"/>
          </a:xfrm>
          <a:prstGeom prst="roundRect">
            <a:avLst/>
          </a:prstGeom>
          <a:solidFill>
            <a:srgbClr val="0E524B"/>
          </a:solidFill>
          <a:ln w="19050">
            <a:solidFill>
              <a:srgbClr val="169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9. PERFORMANCE ANALYSIS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20756880"/>
            <a:ext cx="13898880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graphicFrame>
        <p:nvGraphicFramePr>
          <p:cNvPr id="58" name="Table 57"/>
          <p:cNvGraphicFramePr>
            <a:graphicFrameLocks noGrp="1"/>
          </p:cNvGraphicFramePr>
          <p:nvPr/>
        </p:nvGraphicFramePr>
        <p:xfrm>
          <a:off x="731520" y="20848320"/>
          <a:ext cx="136245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6140"/>
                <a:gridCol w="3406140"/>
                <a:gridCol w="3406140"/>
                <a:gridCol w="3406140"/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0E52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Methodology</a:t>
                      </a:r>
                    </a:p>
                  </a:txBody>
                  <a:tcPr>
                    <a:solidFill>
                      <a:srgbClr val="0E52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Accuracy (Existing)</a:t>
                      </a:r>
                    </a:p>
                  </a:txBody>
                  <a:tcPr>
                    <a:solidFill>
                      <a:srgbClr val="0E52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Accuracy (Proposed Model)</a:t>
                      </a:r>
                    </a:p>
                  </a:txBody>
                  <a:tcPr>
                    <a:solidFill>
                      <a:srgbClr val="0E524B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F2825"/>
                          </a:solidFill>
                        </a:defRPr>
                      </a:pPr>
                      <a:r>
                        <a:t>Dataset I</a:t>
                      </a:r>
                    </a:p>
                  </a:txBody>
                  <a:tcPr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F2825"/>
                          </a:solidFill>
                        </a:defRPr>
                      </a:pPr>
                      <a:r>
                        <a:t>HU Moments + GLCM + Random Forest</a:t>
                      </a:r>
                    </a:p>
                  </a:txBody>
                  <a:tcPr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F2825"/>
                          </a:solidFill>
                        </a:defRPr>
                      </a:pPr>
                      <a:r>
                        <a:t>98.0%</a:t>
                      </a:r>
                    </a:p>
                  </a:txBody>
                  <a:tcPr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42D29"/>
                          </a:solidFill>
                        </a:defRPr>
                      </a:pPr>
                      <a:r>
                        <a:t>98.5%</a:t>
                      </a:r>
                    </a:p>
                  </a:txBody>
                  <a:tcPr>
                    <a:solidFill>
                      <a:srgbClr val="F2F9F8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F2825"/>
                          </a:solidFill>
                        </a:defRPr>
                      </a:pPr>
                      <a:r>
                        <a:t>Dataset II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F2825"/>
                          </a:solidFill>
                        </a:defRPr>
                      </a:pPr>
                      <a:r>
                        <a:t>Deep Vision Transformers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F2825"/>
                          </a:solidFill>
                        </a:defRPr>
                      </a:pPr>
                      <a:r>
                        <a:t>99.29%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42D29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E0F2F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F2825"/>
                          </a:solidFill>
                        </a:defRPr>
                      </a:pPr>
                      <a:r>
                        <a:t>Dataset III</a:t>
                      </a:r>
                    </a:p>
                  </a:txBody>
                  <a:tcPr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F2825"/>
                          </a:solidFill>
                        </a:defRPr>
                      </a:pPr>
                      <a:r>
                        <a:t>CNN</a:t>
                      </a:r>
                    </a:p>
                  </a:txBody>
                  <a:tcPr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0F2825"/>
                          </a:solidFill>
                        </a:defRPr>
                      </a:pPr>
                      <a:r>
                        <a:t>99.56%</a:t>
                      </a:r>
                    </a:p>
                  </a:txBody>
                  <a:tcPr>
                    <a:solidFill>
                      <a:srgbClr val="F2F9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42D29"/>
                          </a:solidFill>
                        </a:defRPr>
                      </a:pPr>
                      <a:r>
                        <a:t>99.8%</a:t>
                      </a:r>
                    </a:p>
                  </a:txBody>
                  <a:tcPr>
                    <a:solidFill>
                      <a:srgbClr val="F2F9F8"/>
                    </a:solidFill>
                  </a:tcPr>
                </a:tc>
              </a:tr>
            </a:tbl>
          </a:graphicData>
        </a:graphic>
      </p:graphicFrame>
      <p:sp>
        <p:nvSpPr>
          <p:cNvPr id="59" name="Rounded Rectangle 58"/>
          <p:cNvSpPr/>
          <p:nvPr/>
        </p:nvSpPr>
        <p:spPr>
          <a:xfrm>
            <a:off x="14904720" y="20116800"/>
            <a:ext cx="6583680" cy="5669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4904720" y="20116800"/>
            <a:ext cx="6583680" cy="594360"/>
          </a:xfrm>
          <a:prstGeom prst="roundRect">
            <a:avLst/>
          </a:prstGeom>
          <a:solidFill>
            <a:srgbClr val="0E524B"/>
          </a:solidFill>
          <a:ln w="19050">
            <a:solidFill>
              <a:srgbClr val="169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10. REAL-WORLD ENVIRONMENTS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041880" y="20756880"/>
            <a:ext cx="6309360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E524B"/>
                </a:solidFill>
              </a:defRPr>
            </a:pPr>
            <a:r>
              <a:t>Environment Robustness Evaluation:</a:t>
            </a:r>
          </a:p>
          <a:p>
            <a:pPr>
              <a:spcAft>
                <a:spcPts val="1200"/>
              </a:spcAft>
              <a:defRPr sz="1400">
                <a:solidFill>
                  <a:srgbClr val="0F2825"/>
                </a:solidFill>
              </a:defRPr>
            </a:pPr>
            <a:r>
              <a:t>• Simple Background: Studio environment with uniform lighting &amp; mask</a:t>
            </a:r>
          </a:p>
          <a:p>
            <a:pPr>
              <a:spcAft>
                <a:spcPts val="1200"/>
              </a:spcAft>
              <a:defRPr sz="1400">
                <a:solidFill>
                  <a:srgbClr val="0F2825"/>
                </a:solidFill>
              </a:defRPr>
            </a:pPr>
            <a:r>
              <a:t>• Complex Background: Low light, non-uniform natural environment</a:t>
            </a:r>
          </a:p>
          <a:p>
            <a:br/>
            <a:pPr>
              <a:defRPr sz="1300">
                <a:solidFill>
                  <a:srgbClr val="2C4A45"/>
                </a:solidFill>
              </a:defRPr>
            </a:pPr>
            <a:r>
              <a:t>Testing across controlled and non-uniform environments confirms robust feature extraction and zero-shot generalization.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26060400"/>
            <a:ext cx="6766560" cy="5669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57200" y="26060400"/>
            <a:ext cx="6766560" cy="594360"/>
          </a:xfrm>
          <a:prstGeom prst="roundRect">
            <a:avLst/>
          </a:prstGeom>
          <a:solidFill>
            <a:srgbClr val="0E524B"/>
          </a:solidFill>
          <a:ln w="19050">
            <a:solidFill>
              <a:srgbClr val="169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11. SCOPE &amp; SOCIETAL IMPACT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" y="26700480"/>
            <a:ext cx="6492240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E524B"/>
                </a:solidFill>
              </a:defRPr>
            </a:pPr>
            <a:r>
              <a:t>Scope:</a:t>
            </a:r>
          </a:p>
          <a:p>
            <a:pPr>
              <a:spcAft>
                <a:spcPts val="400"/>
              </a:spcAft>
              <a:defRPr sz="1350">
                <a:solidFill>
                  <a:srgbClr val="0F2825"/>
                </a:solidFill>
              </a:defRPr>
            </a:pPr>
            <a:r>
              <a:t>✔ Real-time sign language recognition</a:t>
            </a:r>
          </a:p>
          <a:p>
            <a:pPr>
              <a:spcAft>
                <a:spcPts val="400"/>
              </a:spcAft>
              <a:defRPr sz="1350">
                <a:solidFill>
                  <a:srgbClr val="0F2825"/>
                </a:solidFill>
              </a:defRPr>
            </a:pPr>
            <a:r>
              <a:t>✔ Supports both static &amp; dynamic gestures</a:t>
            </a:r>
          </a:p>
          <a:p>
            <a:pPr>
              <a:spcAft>
                <a:spcPts val="400"/>
              </a:spcAft>
              <a:defRPr sz="1350">
                <a:solidFill>
                  <a:srgbClr val="0F2825"/>
                </a:solidFill>
              </a:defRPr>
            </a:pPr>
            <a:r>
              <a:t>✔ Can be extended to multiple languages</a:t>
            </a:r>
          </a:p>
          <a:p>
            <a:pPr>
              <a:spcAft>
                <a:spcPts val="400"/>
              </a:spcAft>
              <a:defRPr sz="1350">
                <a:solidFill>
                  <a:srgbClr val="0F2825"/>
                </a:solidFill>
              </a:defRPr>
            </a:pPr>
            <a:r>
              <a:t>✔ Potential for mobile and wearable devices</a:t>
            </a:r>
          </a:p>
          <a:p>
            <a:br/>
            <a:pPr>
              <a:spcAft>
                <a:spcPts val="400"/>
              </a:spcAft>
              <a:defRPr sz="1500" b="1">
                <a:solidFill>
                  <a:srgbClr val="0E524B"/>
                </a:solidFill>
              </a:defRPr>
            </a:pPr>
            <a:r>
              <a:t>Societal Impact:</a:t>
            </a:r>
          </a:p>
          <a:p>
            <a:pPr>
              <a:spcAft>
                <a:spcPts val="400"/>
              </a:spcAft>
              <a:defRPr sz="1350">
                <a:solidFill>
                  <a:srgbClr val="0F2825"/>
                </a:solidFill>
              </a:defRPr>
            </a:pPr>
            <a:r>
              <a:t>✔ Empowers speech &amp; hearing-impaired community</a:t>
            </a:r>
          </a:p>
          <a:p>
            <a:pPr>
              <a:spcAft>
                <a:spcPts val="400"/>
              </a:spcAft>
              <a:defRPr sz="1350">
                <a:solidFill>
                  <a:srgbClr val="0F2825"/>
                </a:solidFill>
              </a:defRPr>
            </a:pPr>
            <a:r>
              <a:t>✔ Improves accessibility and inclusion</a:t>
            </a:r>
          </a:p>
          <a:p>
            <a:pPr>
              <a:spcAft>
                <a:spcPts val="400"/>
              </a:spcAft>
              <a:defRPr sz="1350">
                <a:solidFill>
                  <a:srgbClr val="0F2825"/>
                </a:solidFill>
              </a:defRPr>
            </a:pPr>
            <a:r>
              <a:t>✔ Bridges communication gaps</a:t>
            </a:r>
          </a:p>
          <a:p>
            <a:pPr>
              <a:spcAft>
                <a:spcPts val="400"/>
              </a:spcAft>
              <a:defRPr sz="1350">
                <a:solidFill>
                  <a:srgbClr val="0F2825"/>
                </a:solidFill>
              </a:defRPr>
            </a:pPr>
            <a:r>
              <a:t>✔ Supports education &amp; workplace accessibility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498079" y="26060400"/>
            <a:ext cx="6766560" cy="5669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498079" y="26060400"/>
            <a:ext cx="6766560" cy="594360"/>
          </a:xfrm>
          <a:prstGeom prst="roundRect">
            <a:avLst/>
          </a:prstGeom>
          <a:solidFill>
            <a:srgbClr val="0E524B"/>
          </a:solidFill>
          <a:ln w="19050">
            <a:solidFill>
              <a:srgbClr val="169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12. LIMITATIONS &amp; FUTURE WORK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35240" y="26700480"/>
            <a:ext cx="6492240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E524B"/>
                </a:solidFill>
              </a:defRPr>
            </a:pPr>
            <a:r>
              <a:t>Limitations:</a:t>
            </a:r>
          </a:p>
          <a:p>
            <a:pPr>
              <a:spcAft>
                <a:spcPts val="400"/>
              </a:spcAft>
              <a:defRPr sz="1350">
                <a:solidFill>
                  <a:srgbClr val="0F2825"/>
                </a:solidFill>
              </a:defRPr>
            </a:pPr>
            <a:r>
              <a:t>• Limited dataset size</a:t>
            </a:r>
          </a:p>
          <a:p>
            <a:pPr>
              <a:spcAft>
                <a:spcPts val="400"/>
              </a:spcAft>
              <a:defRPr sz="1350">
                <a:solidFill>
                  <a:srgbClr val="0F2825"/>
                </a:solidFill>
              </a:defRPr>
            </a:pPr>
            <a:r>
              <a:t>• Only 26 classes (A–Z)</a:t>
            </a:r>
          </a:p>
          <a:p>
            <a:pPr>
              <a:spcAft>
                <a:spcPts val="400"/>
              </a:spcAft>
              <a:defRPr sz="1350">
                <a:solidFill>
                  <a:srgbClr val="0F2825"/>
                </a:solidFill>
              </a:defRPr>
            </a:pPr>
            <a:r>
              <a:t>• Focus on static gestures</a:t>
            </a:r>
          </a:p>
          <a:p>
            <a:pPr>
              <a:spcAft>
                <a:spcPts val="400"/>
              </a:spcAft>
              <a:defRPr sz="1350">
                <a:solidFill>
                  <a:srgbClr val="0F2825"/>
                </a:solidFill>
              </a:defRPr>
            </a:pPr>
            <a:r>
              <a:t>• Performance may vary in extreme conditions</a:t>
            </a:r>
          </a:p>
          <a:p>
            <a:br/>
            <a:pPr>
              <a:spcAft>
                <a:spcPts val="400"/>
              </a:spcAft>
              <a:defRPr sz="1500" b="1">
                <a:solidFill>
                  <a:srgbClr val="0E524B"/>
                </a:solidFill>
              </a:defRPr>
            </a:pPr>
            <a:r>
              <a:t>Future Work:</a:t>
            </a:r>
          </a:p>
          <a:p>
            <a:pPr>
              <a:spcAft>
                <a:spcPts val="400"/>
              </a:spcAft>
              <a:defRPr sz="1350">
                <a:solidFill>
                  <a:srgbClr val="0F2825"/>
                </a:solidFill>
              </a:defRPr>
            </a:pPr>
            <a:r>
              <a:t>➔ Increase dataset size and diversity</a:t>
            </a:r>
          </a:p>
          <a:p>
            <a:pPr>
              <a:spcAft>
                <a:spcPts val="400"/>
              </a:spcAft>
              <a:defRPr sz="1350">
                <a:solidFill>
                  <a:srgbClr val="0F2825"/>
                </a:solidFill>
              </a:defRPr>
            </a:pPr>
            <a:r>
              <a:t>➔ Include dynamic gestures &amp; sentences</a:t>
            </a:r>
          </a:p>
          <a:p>
            <a:pPr>
              <a:spcAft>
                <a:spcPts val="400"/>
              </a:spcAft>
              <a:defRPr sz="1350">
                <a:solidFill>
                  <a:srgbClr val="0F2825"/>
                </a:solidFill>
              </a:defRPr>
            </a:pPr>
            <a:r>
              <a:t>➔ Improve real-time deployment</a:t>
            </a:r>
          </a:p>
          <a:p>
            <a:pPr>
              <a:spcAft>
                <a:spcPts val="400"/>
              </a:spcAft>
              <a:defRPr sz="1350">
                <a:solidFill>
                  <a:srgbClr val="0F2825"/>
                </a:solidFill>
              </a:defRPr>
            </a:pPr>
            <a:r>
              <a:t>➔ Extend to multi-language recognition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4538960" y="26060400"/>
            <a:ext cx="6949440" cy="5669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2DF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4538960" y="26060400"/>
            <a:ext cx="6949440" cy="594360"/>
          </a:xfrm>
          <a:prstGeom prst="roundRect">
            <a:avLst/>
          </a:prstGeom>
          <a:solidFill>
            <a:srgbClr val="0E524B"/>
          </a:solidFill>
          <a:ln w="19050">
            <a:solidFill>
              <a:srgbClr val="169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13. CONCLUSION &amp; REFERENCES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4676120" y="26700480"/>
            <a:ext cx="6675120" cy="4983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0E524B"/>
                </a:solidFill>
              </a:defRPr>
            </a:pPr>
            <a:r>
              <a:t>13. CONCLUSION</a:t>
            </a:r>
          </a:p>
          <a:p>
            <a:pPr>
              <a:spcAft>
                <a:spcPts val="800"/>
              </a:spcAft>
              <a:defRPr sz="1350">
                <a:solidFill>
                  <a:srgbClr val="0F2825"/>
                </a:solidFill>
              </a:defRPr>
            </a:pPr>
            <a:r>
              <a:t>The proposed CNN-LSTM architecture for static ISL recognition is a promising solution for the speech and hearing-impaired community. It achieves high accuracy, works in diverse environments, and ensures efficient training with fewer epochs.</a:t>
            </a:r>
          </a:p>
          <a:p>
            <a:pPr>
              <a:spcAft>
                <a:spcPts val="400"/>
              </a:spcAft>
              <a:defRPr sz="1500" b="1">
                <a:solidFill>
                  <a:srgbClr val="0E524B"/>
                </a:solidFill>
              </a:defRPr>
            </a:pPr>
            <a:r>
              <a:t>14. REFERENCES</a:t>
            </a:r>
          </a:p>
          <a:p>
            <a:pPr>
              <a:spcAft>
                <a:spcPts val="400"/>
              </a:spcAft>
              <a:defRPr sz="1200">
                <a:solidFill>
                  <a:srgbClr val="2C4A45"/>
                </a:solidFill>
              </a:defRPr>
            </a:pPr>
            <a:r>
              <a:t>1. A. O. Hashi et al., "A systematic review of hand gesture recognition," IEEE Access, vol. 12, pp. 143603–143623, 2024.</a:t>
            </a:r>
          </a:p>
          <a:p>
            <a:pPr>
              <a:spcAft>
                <a:spcPts val="400"/>
              </a:spcAft>
              <a:defRPr sz="1200">
                <a:solidFill>
                  <a:srgbClr val="2C4A45"/>
                </a:solidFill>
              </a:defRPr>
            </a:pPr>
            <a:r>
              <a:t>2. U. Rastogi et al., "Advancements in Machine Learning for Gesture Recognition," Journal of Computer Vision and AI, 2023.</a:t>
            </a:r>
          </a:p>
          <a:p>
            <a:br/>
            <a:pPr>
              <a:defRPr sz="1300" b="1">
                <a:solidFill>
                  <a:srgbClr val="0E524B"/>
                </a:solidFill>
              </a:defRPr>
            </a:pPr>
            <a:r>
              <a:t>Aligned with United Nations Sustainable Development Goals: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32004000"/>
            <a:ext cx="21945600" cy="914400"/>
          </a:xfrm>
          <a:prstGeom prst="rect">
            <a:avLst/>
          </a:prstGeom>
          <a:solidFill>
            <a:srgbClr val="042D29"/>
          </a:solidFill>
          <a:ln w="25400">
            <a:solidFill>
              <a:srgbClr val="169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48C9B0"/>
                </a:solidFill>
              </a:defRPr>
            </a:pPr>
            <a:r>
              <a:t>"SignBridge – Connecting People Beyond Words"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